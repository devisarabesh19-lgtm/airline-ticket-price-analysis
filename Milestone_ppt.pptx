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66FF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FE600D6C-DB7E-486B-9018-010B4F806E9D}" type="datetimeFigureOut">
              <a:rPr lang="en-IN" smtClean="0"/>
              <a:t>05-12-2025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84D0677F-E40B-4C26-A310-B95962ABCFB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9216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00D6C-DB7E-486B-9018-010B4F806E9D}" type="datetimeFigureOut">
              <a:rPr lang="en-IN" smtClean="0"/>
              <a:t>05-12-2025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0677F-E40B-4C26-A310-B95962ABCFB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418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00D6C-DB7E-486B-9018-010B4F806E9D}" type="datetimeFigureOut">
              <a:rPr lang="en-IN" smtClean="0"/>
              <a:t>05-12-2025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0677F-E40B-4C26-A310-B95962ABCFB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4234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00D6C-DB7E-486B-9018-010B4F806E9D}" type="datetimeFigureOut">
              <a:rPr lang="en-IN" smtClean="0"/>
              <a:t>05-12-2025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0677F-E40B-4C26-A310-B95962ABCFB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9227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00D6C-DB7E-486B-9018-010B4F806E9D}" type="datetimeFigureOut">
              <a:rPr lang="en-IN" smtClean="0"/>
              <a:t>05-12-2025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0677F-E40B-4C26-A310-B95962ABCFB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1686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00D6C-DB7E-486B-9018-010B4F806E9D}" type="datetimeFigureOut">
              <a:rPr lang="en-IN" smtClean="0"/>
              <a:t>05-12-2025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0677F-E40B-4C26-A310-B95962ABCFB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0198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00D6C-DB7E-486B-9018-010B4F806E9D}" type="datetimeFigureOut">
              <a:rPr lang="en-IN" smtClean="0"/>
              <a:t>05-12-2025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0677F-E40B-4C26-A310-B95962ABCFB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417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00D6C-DB7E-486B-9018-010B4F806E9D}" type="datetimeFigureOut">
              <a:rPr lang="en-IN" smtClean="0"/>
              <a:t>05-12-2025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0677F-E40B-4C26-A310-B95962ABCFB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7414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00D6C-DB7E-486B-9018-010B4F806E9D}" type="datetimeFigureOut">
              <a:rPr lang="en-IN" smtClean="0"/>
              <a:t>05-12-2025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0677F-E40B-4C26-A310-B95962ABCFB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2149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00D6C-DB7E-486B-9018-010B4F806E9D}" type="datetimeFigureOut">
              <a:rPr lang="en-IN" smtClean="0"/>
              <a:t>05-12-2025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0677F-E40B-4C26-A310-B95962ABCFB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6769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00D6C-DB7E-486B-9018-010B4F806E9D}" type="datetimeFigureOut">
              <a:rPr lang="en-IN" smtClean="0"/>
              <a:t>05-12-2025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0677F-E40B-4C26-A310-B95962ABCFB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74959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00D6C-DB7E-486B-9018-010B4F806E9D}" type="datetimeFigureOut">
              <a:rPr lang="en-IN" smtClean="0"/>
              <a:t>05-12-2025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0677F-E40B-4C26-A310-B95962ABCFB5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40279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00D6C-DB7E-486B-9018-010B4F806E9D}" type="datetimeFigureOut">
              <a:rPr lang="en-IN" smtClean="0"/>
              <a:t>05-12-2025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0677F-E40B-4C26-A310-B95962ABCFB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75878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00D6C-DB7E-486B-9018-010B4F806E9D}" type="datetimeFigureOut">
              <a:rPr lang="en-IN" smtClean="0"/>
              <a:t>05-12-2025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0677F-E40B-4C26-A310-B95962ABCFB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11215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00D6C-DB7E-486B-9018-010B4F806E9D}" type="datetimeFigureOut">
              <a:rPr lang="en-IN" smtClean="0"/>
              <a:t>05-12-2025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0677F-E40B-4C26-A310-B95962ABCFB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3692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00D6C-DB7E-486B-9018-010B4F806E9D}" type="datetimeFigureOut">
              <a:rPr lang="en-IN" smtClean="0"/>
              <a:t>05-12-2025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0677F-E40B-4C26-A310-B95962ABCFB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04229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00D6C-DB7E-486B-9018-010B4F806E9D}" type="datetimeFigureOut">
              <a:rPr lang="en-IN" smtClean="0"/>
              <a:t>05-12-2025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0677F-E40B-4C26-A310-B95962ABCFB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8994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 dirty="0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 dirty="0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 dirty="0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 dirty="0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 dirty="0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 dirty="0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 dirty="0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 dirty="0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 dirty="0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 dirty="0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 dirty="0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IN" dirty="0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 dirty="0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 dirty="0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 dirty="0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 dirty="0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 dirty="0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 dirty="0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 dirty="0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 dirty="0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 dirty="0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 dirty="0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 dirty="0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 dirty="0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 dirty="0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 dirty="0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 dirty="0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 dirty="0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 dirty="0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 dirty="0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 dirty="0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 dirty="0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 dirty="0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 dirty="0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 dirty="0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 dirty="0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 dirty="0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600D6C-DB7E-486B-9018-010B4F806E9D}" type="datetimeFigureOut">
              <a:rPr lang="en-IN" smtClean="0"/>
              <a:t>05-12-2025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D0677F-E40B-4C26-A310-B95962ABCFB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18374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m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mp"/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mp"/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tmp"/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72D47E42-3072-47DA-009A-EC3E8DB25D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CBEBC31-3797-FA0D-23B4-013AE3736769}"/>
              </a:ext>
            </a:extLst>
          </p:cNvPr>
          <p:cNvSpPr txBox="1"/>
          <p:nvPr/>
        </p:nvSpPr>
        <p:spPr>
          <a:xfrm>
            <a:off x="3990975" y="1409700"/>
            <a:ext cx="6677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Algerian" panose="04020705040A02060702" pitchFamily="82" charset="0"/>
              </a:rPr>
              <a:t>Airline Ticket Price Analysis </a:t>
            </a:r>
            <a:endParaRPr lang="en-IN" sz="3200" dirty="0">
              <a:latin typeface="Algerian" panose="04020705040A02060702" pitchFamily="8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14B679-F6DD-B30C-E7F7-31C9DB42A186}"/>
              </a:ext>
            </a:extLst>
          </p:cNvPr>
          <p:cNvSpPr txBox="1"/>
          <p:nvPr/>
        </p:nvSpPr>
        <p:spPr>
          <a:xfrm>
            <a:off x="10896600" y="5819775"/>
            <a:ext cx="2447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chemeClr val="bg1">
                    <a:lumMod val="95000"/>
                    <a:lumOff val="5000"/>
                  </a:schemeClr>
                </a:solidFill>
              </a:rPr>
              <a:t>S.Devi</a:t>
            </a:r>
            <a:endParaRPr lang="en-IN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5717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DEC7A-1185-8B3F-280A-7FF200F8D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chemeClr val="bg1"/>
                </a:solidFill>
                <a:latin typeface="Algerian" panose="04020705040A02060702" pitchFamily="82" charset="0"/>
              </a:rPr>
              <a:t>Clean data by handling missing values, duplicates and inconsistent entries</a:t>
            </a:r>
          </a:p>
        </p:txBody>
      </p:sp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09661B17-09A7-F64F-A920-032B933052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79914" y="4040867"/>
            <a:ext cx="5197151" cy="268650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B099EFF-D437-6A46-AC65-9173F27CB7A1}"/>
              </a:ext>
            </a:extLst>
          </p:cNvPr>
          <p:cNvSpPr txBox="1"/>
          <p:nvPr/>
        </p:nvSpPr>
        <p:spPr>
          <a:xfrm>
            <a:off x="8207829" y="2097088"/>
            <a:ext cx="3890865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The dataset used is clean and this table has no duplicate in the entire list, ensuring accurate analysis.</a:t>
            </a:r>
          </a:p>
          <a:p>
            <a:r>
              <a:rPr lang="en-IN" sz="2400" dirty="0"/>
              <a:t>I Collected the Dataset from Kaggle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2E1B18-A8F3-85FB-5116-DBB131EFB4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473" y="1902217"/>
            <a:ext cx="3209731" cy="1964870"/>
          </a:xfrm>
          <a:prstGeom prst="rect">
            <a:avLst/>
          </a:prstGeom>
        </p:spPr>
      </p:pic>
      <p:sp>
        <p:nvSpPr>
          <p:cNvPr id="13" name="Arrow: Curved Right 12">
            <a:extLst>
              <a:ext uri="{FF2B5EF4-FFF2-40B4-BE49-F238E27FC236}">
                <a16:creationId xmlns:a16="http://schemas.microsoft.com/office/drawing/2014/main" id="{7CD6FF85-D14D-E899-B166-1F55207A470A}"/>
              </a:ext>
            </a:extLst>
          </p:cNvPr>
          <p:cNvSpPr/>
          <p:nvPr/>
        </p:nvSpPr>
        <p:spPr>
          <a:xfrm>
            <a:off x="1352939" y="3867087"/>
            <a:ext cx="1007706" cy="1109919"/>
          </a:xfrm>
          <a:prstGeom prst="curved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CE1392-1F0E-BFAC-F524-9D72FC5D420A}"/>
              </a:ext>
            </a:extLst>
          </p:cNvPr>
          <p:cNvSpPr txBox="1"/>
          <p:nvPr/>
        </p:nvSpPr>
        <p:spPr>
          <a:xfrm>
            <a:off x="4142792" y="2276669"/>
            <a:ext cx="39561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Dataset: 800 rows and 12 Column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9570858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06EBF-C6A2-1523-DCD8-1F6B4A3F4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067407"/>
          </a:xfrm>
        </p:spPr>
        <p:txBody>
          <a:bodyPr>
            <a:normAutofit fontScale="90000"/>
          </a:bodyPr>
          <a:lstStyle/>
          <a:p>
            <a:r>
              <a:rPr lang="en-IN" dirty="0"/>
              <a:t> </a:t>
            </a:r>
            <a:r>
              <a:rPr lang="en-IN" dirty="0">
                <a:solidFill>
                  <a:schemeClr val="bg1"/>
                </a:solidFill>
                <a:latin typeface="Algerian" panose="04020705040A02060702" pitchFamily="82" charset="0"/>
              </a:rPr>
              <a:t>Create new derived metrics or calculated columns for deeper analysis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342F3E7-4053-E897-40B0-062DE68480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5863" y="1849438"/>
            <a:ext cx="4544638" cy="2798762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DA92349-3A54-3095-1847-6DCFF34CE73D}"/>
              </a:ext>
            </a:extLst>
          </p:cNvPr>
          <p:cNvSpPr txBox="1"/>
          <p:nvPr/>
        </p:nvSpPr>
        <p:spPr>
          <a:xfrm>
            <a:off x="1323975" y="1924050"/>
            <a:ext cx="55245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Since Vistara airline has more data, we can clearly observe how early booking influences Vistara ticket costs.</a:t>
            </a:r>
          </a:p>
          <a:p>
            <a:endParaRPr lang="en-IN" dirty="0"/>
          </a:p>
          <a:p>
            <a:r>
              <a:rPr lang="en-IN" dirty="0"/>
              <a:t>It helps compare whether a shorter or longer flight is more cost-efficient. It shows how early or late bookings affect ticket price.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DD670C9-30D4-D8CB-B165-F33DC8C719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3975" y="3872204"/>
            <a:ext cx="5263437" cy="2798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81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ABCE1839-8533-8E23-BE7E-5A1874BD6B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0530" y="1716833"/>
            <a:ext cx="6391470" cy="3564294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D1A4FAEB-CBEB-E2F1-DD2F-47EB28474EED}"/>
              </a:ext>
            </a:extLst>
          </p:cNvPr>
          <p:cNvSpPr txBox="1"/>
          <p:nvPr/>
        </p:nvSpPr>
        <p:spPr>
          <a:xfrm>
            <a:off x="2108718" y="615820"/>
            <a:ext cx="790302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Algerian" panose="04020705040A02060702" pitchFamily="82" charset="0"/>
              </a:rPr>
              <a:t>Frequency Calculation Of Airline Dataset Using COUNTIF AND COUNTIFS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A2F0E52-D50B-F3BB-743A-16C4550216C6}"/>
              </a:ext>
            </a:extLst>
          </p:cNvPr>
          <p:cNvSpPr txBox="1"/>
          <p:nvPr/>
        </p:nvSpPr>
        <p:spPr>
          <a:xfrm>
            <a:off x="1063690" y="1791478"/>
            <a:ext cx="459066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Countif is used to count how many times a single condition appears in a dataset.</a:t>
            </a:r>
          </a:p>
          <a:p>
            <a:r>
              <a:rPr lang="en-IN" dirty="0"/>
              <a:t>Example: Counting how many bookings belongs to Vistara or Indigo.</a:t>
            </a:r>
          </a:p>
          <a:p>
            <a:endParaRPr lang="en-IN" dirty="0"/>
          </a:p>
          <a:p>
            <a:r>
              <a:rPr lang="en-IN" dirty="0"/>
              <a:t>Countifs allows counting values based on two or more conditions. </a:t>
            </a:r>
          </a:p>
          <a:p>
            <a:r>
              <a:rPr lang="en-IN" dirty="0"/>
              <a:t>Example: Counting tickets where Airline=Vistara and Price&gt;5000.</a:t>
            </a:r>
          </a:p>
        </p:txBody>
      </p:sp>
    </p:spTree>
    <p:extLst>
      <p:ext uri="{BB962C8B-B14F-4D97-AF65-F5344CB8AC3E}">
        <p14:creationId xmlns:p14="http://schemas.microsoft.com/office/powerpoint/2010/main" val="8344475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8DE5B4-2A1F-6E6C-3C40-829DD57CAE62}"/>
              </a:ext>
            </a:extLst>
          </p:cNvPr>
          <p:cNvSpPr txBox="1"/>
          <p:nvPr/>
        </p:nvSpPr>
        <p:spPr>
          <a:xfrm>
            <a:off x="1502229" y="690465"/>
            <a:ext cx="93865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Algerian" panose="04020705040A02060702" pitchFamily="82" charset="0"/>
              </a:rPr>
              <a:t>Whatif-If Analysis and Goal Seek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58682A-21D9-A162-DB26-E6E42EA9E5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4628" y="1707502"/>
            <a:ext cx="4868247" cy="28271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571B823-1197-36FC-A244-876D2D5A5224}"/>
              </a:ext>
            </a:extLst>
          </p:cNvPr>
          <p:cNvSpPr txBox="1"/>
          <p:nvPr/>
        </p:nvSpPr>
        <p:spPr>
          <a:xfrm>
            <a:off x="1007706" y="1707502"/>
            <a:ext cx="560769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 use Goal Seek to adjust the data until the total value reached the target.</a:t>
            </a:r>
          </a:p>
          <a:p>
            <a:endParaRPr lang="en-IN" dirty="0"/>
          </a:p>
          <a:p>
            <a:r>
              <a:rPr lang="en-IN" dirty="0"/>
              <a:t>Example: A Flight company wants revenue to reach 5,00,000. goal seek calculates how many tickets must be sold to reach that revenue.</a:t>
            </a:r>
          </a:p>
          <a:p>
            <a:endParaRPr lang="en-IN" dirty="0"/>
          </a:p>
          <a:p>
            <a:r>
              <a:rPr lang="en-IN" dirty="0"/>
              <a:t>Saves time and avoids manual trial and error</a:t>
            </a:r>
          </a:p>
        </p:txBody>
      </p:sp>
    </p:spTree>
    <p:extLst>
      <p:ext uri="{BB962C8B-B14F-4D97-AF65-F5344CB8AC3E}">
        <p14:creationId xmlns:p14="http://schemas.microsoft.com/office/powerpoint/2010/main" val="3017367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AD7F98C-73B0-6822-1864-D1D8F85F9E4F}"/>
              </a:ext>
            </a:extLst>
          </p:cNvPr>
          <p:cNvSpPr txBox="1"/>
          <p:nvPr/>
        </p:nvSpPr>
        <p:spPr>
          <a:xfrm>
            <a:off x="1698171" y="699796"/>
            <a:ext cx="88547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Algerian" panose="04020705040A02060702" pitchFamily="82" charset="0"/>
              </a:rPr>
              <a:t>HANDLING MISSING DATA USING IFERROR WITH LOOKUP FUNCTIONS</a:t>
            </a:r>
            <a:endParaRPr lang="en-IN" sz="2000" b="1" dirty="0">
              <a:latin typeface="Algerian" panose="04020705040A02060702" pitchFamily="8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578144-985F-3BDA-B7B3-D09A2698C494}"/>
              </a:ext>
            </a:extLst>
          </p:cNvPr>
          <p:cNvSpPr txBox="1"/>
          <p:nvPr/>
        </p:nvSpPr>
        <p:spPr>
          <a:xfrm>
            <a:off x="6192416" y="2108719"/>
            <a:ext cx="599958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IFERROR Helps avoid errors like “N/A” when data is missing.</a:t>
            </a:r>
          </a:p>
          <a:p>
            <a:endParaRPr lang="en-US" dirty="0"/>
          </a:p>
          <a:p>
            <a:r>
              <a:rPr lang="en-US" dirty="0"/>
              <a:t>Instead of showing an error, we can show clean text such as “NOT FOUND” or 0</a:t>
            </a:r>
          </a:p>
          <a:p>
            <a:endParaRPr lang="en-US" dirty="0"/>
          </a:p>
          <a:p>
            <a:r>
              <a:rPr lang="en-US" dirty="0"/>
              <a:t>VLOOKUP searches from left to right in a table.  Best for small or fixed tables.</a:t>
            </a:r>
          </a:p>
          <a:p>
            <a:endParaRPr lang="en-US" dirty="0"/>
          </a:p>
          <a:p>
            <a:r>
              <a:rPr lang="en-US" dirty="0"/>
              <a:t>XLOOKUP is more flexible than VLOOKUP </a:t>
            </a:r>
            <a:r>
              <a:rPr lang="en-IN" dirty="0"/>
              <a:t>we don’t need to count columns manually.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69A39A-A103-DD9C-252E-02DFDB03C8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57" y="2108719"/>
            <a:ext cx="4581330" cy="2939143"/>
          </a:xfrm>
          <a:prstGeom prst="rect">
            <a:avLst/>
          </a:prstGeom>
        </p:spPr>
      </p:pic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45EB2DCB-5968-1892-474E-535AE9EF3E04}"/>
              </a:ext>
            </a:extLst>
          </p:cNvPr>
          <p:cNvCxnSpPr/>
          <p:nvPr/>
        </p:nvCxnSpPr>
        <p:spPr>
          <a:xfrm>
            <a:off x="5477069" y="3429000"/>
            <a:ext cx="858417" cy="303245"/>
          </a:xfrm>
          <a:prstGeom prst="curvedConnector3">
            <a:avLst/>
          </a:prstGeom>
          <a:ln>
            <a:noFill/>
            <a:tailEnd type="triangle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2109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A24C55-0401-A79D-585B-341A74A6922B}"/>
              </a:ext>
            </a:extLst>
          </p:cNvPr>
          <p:cNvSpPr txBox="1"/>
          <p:nvPr/>
        </p:nvSpPr>
        <p:spPr>
          <a:xfrm>
            <a:off x="1961761" y="557118"/>
            <a:ext cx="610688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Algerian" panose="04020705040A02060702" pitchFamily="82" charset="0"/>
                <a:cs typeface="Times New Roman" panose="02020603050405020304" pitchFamily="18" charset="0"/>
              </a:rPr>
              <a:t>Pivot chart and Dashboard Visualization</a:t>
            </a:r>
            <a:endParaRPr lang="en-IN" sz="2800" b="1" dirty="0">
              <a:latin typeface="Algerian" panose="04020705040A02060702" pitchFamily="82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5DC0F2-D7F7-C2D4-6CBA-460D573E7510}"/>
              </a:ext>
            </a:extLst>
          </p:cNvPr>
          <p:cNvSpPr txBox="1"/>
          <p:nvPr/>
        </p:nvSpPr>
        <p:spPr>
          <a:xfrm>
            <a:off x="907402" y="1997839"/>
            <a:ext cx="610688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Visual Flight Trends</a:t>
            </a:r>
          </a:p>
          <a:p>
            <a:r>
              <a:rPr lang="en-US" dirty="0"/>
              <a:t>The Pivot chart shows how different airlines perform across source and destination cities, helping identify which routes have higher flight volumes.</a:t>
            </a:r>
          </a:p>
          <a:p>
            <a:endParaRPr lang="en-US" dirty="0"/>
          </a:p>
          <a:p>
            <a:r>
              <a:rPr lang="en-US" dirty="0"/>
              <a:t>Price Comparison</a:t>
            </a:r>
          </a:p>
          <a:p>
            <a:r>
              <a:rPr lang="en-US" dirty="0"/>
              <a:t>Dashboard visuals compare ticket prices between airlines, allowing quick identification of low-cost and premium carriers.</a:t>
            </a:r>
          </a:p>
          <a:p>
            <a:endParaRPr lang="en-US" dirty="0"/>
          </a:p>
          <a:p>
            <a:r>
              <a:rPr lang="en-US" dirty="0"/>
              <a:t>Interactive slicers allow quick filtering and instant insights.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1768374-1BD4-DEE3-A10B-7F419A089A8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7591" y="942394"/>
            <a:ext cx="2680997" cy="1964094"/>
          </a:xfrm>
          <a:prstGeom prst="rect">
            <a:avLst/>
          </a:prstGeom>
        </p:spPr>
      </p:pic>
      <p:pic>
        <p:nvPicPr>
          <p:cNvPr id="7" name="Picture 6" descr="A screenshot of a computer">
            <a:extLst>
              <a:ext uri="{FF2B5EF4-FFF2-40B4-BE49-F238E27FC236}">
                <a16:creationId xmlns:a16="http://schemas.microsoft.com/office/drawing/2014/main" id="{58BABE08-5D85-E778-C1F2-F3569C7AB4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2009" y="3079102"/>
            <a:ext cx="4183224" cy="2276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924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DE8363-62E7-8E09-1E0B-5F55D23DEDDD}"/>
              </a:ext>
            </a:extLst>
          </p:cNvPr>
          <p:cNvSpPr txBox="1"/>
          <p:nvPr/>
        </p:nvSpPr>
        <p:spPr>
          <a:xfrm>
            <a:off x="1259633" y="821094"/>
            <a:ext cx="81922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Algerian" panose="04020705040A02060702" pitchFamily="82" charset="0"/>
              </a:rPr>
              <a:t>Build data models and relationships using power pivot </a:t>
            </a:r>
            <a:endParaRPr lang="en-IN" sz="2800" dirty="0">
              <a:latin typeface="Algerian" panose="04020705040A02060702" pitchFamily="8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3D6C06-679B-3429-95C9-AC283B1C2B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3526" y="4089091"/>
            <a:ext cx="3312367" cy="258924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063B3B6-285D-276A-E98F-952FDD266C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6880" y="1870789"/>
            <a:ext cx="3051112" cy="212271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90330D0-FC69-1525-A521-A67C11C3A8A0}"/>
              </a:ext>
            </a:extLst>
          </p:cNvPr>
          <p:cNvSpPr txBox="1"/>
          <p:nvPr/>
        </p:nvSpPr>
        <p:spPr>
          <a:xfrm>
            <a:off x="1129006" y="2193482"/>
            <a:ext cx="70166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relational data model makes updates easier because new records in any table automatically reflect in reports.</a:t>
            </a:r>
          </a:p>
          <a:p>
            <a:endParaRPr lang="en-US" dirty="0"/>
          </a:p>
          <a:p>
            <a:r>
              <a:rPr lang="en-US" dirty="0"/>
              <a:t>Power Pivot improves performance when working with large datasets compared to normal excel sheets.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34890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17A3D1C-51FE-45B5-43CF-072902986A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0271" y="1894113"/>
            <a:ext cx="3788228" cy="26592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F10A55B-2D5A-A2C7-256B-F56F448DC30A}"/>
              </a:ext>
            </a:extLst>
          </p:cNvPr>
          <p:cNvSpPr txBox="1"/>
          <p:nvPr/>
        </p:nvSpPr>
        <p:spPr>
          <a:xfrm>
            <a:off x="1548882" y="1894113"/>
            <a:ext cx="517848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Current Values Vs Scenario Price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Current value Original ticket price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Scenario Values new ticket prices tested under each scenario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This helps to quickly see how each new price affects the outcome.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353A3D-B770-8E34-1D6C-8D2F6E4ED03B}"/>
              </a:ext>
            </a:extLst>
          </p:cNvPr>
          <p:cNvSpPr txBox="1"/>
          <p:nvPr/>
        </p:nvSpPr>
        <p:spPr>
          <a:xfrm>
            <a:off x="2911153" y="447869"/>
            <a:ext cx="5309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Algerian" panose="04020705040A02060702" pitchFamily="82" charset="0"/>
              </a:rPr>
              <a:t>Scenario Summary</a:t>
            </a:r>
          </a:p>
        </p:txBody>
      </p:sp>
    </p:spTree>
    <p:extLst>
      <p:ext uri="{BB962C8B-B14F-4D97-AF65-F5344CB8AC3E}">
        <p14:creationId xmlns:p14="http://schemas.microsoft.com/office/powerpoint/2010/main" val="24419728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A3A3C69-248D-F71F-6F57-7666C65749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5C6FD8D-8D25-67F9-877D-4706E59A32D5}"/>
              </a:ext>
            </a:extLst>
          </p:cNvPr>
          <p:cNvSpPr txBox="1"/>
          <p:nvPr/>
        </p:nvSpPr>
        <p:spPr>
          <a:xfrm>
            <a:off x="5784980" y="677242"/>
            <a:ext cx="4478693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THANK YOU</a:t>
            </a:r>
          </a:p>
          <a:p>
            <a:endParaRPr lang="en-IN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B2058A9-85DF-F863-6541-85DD0DCD1DD8}"/>
              </a:ext>
            </a:extLst>
          </p:cNvPr>
          <p:cNvSpPr/>
          <p:nvPr/>
        </p:nvSpPr>
        <p:spPr>
          <a:xfrm>
            <a:off x="6003634" y="2967335"/>
            <a:ext cx="18473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en-US" sz="54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875764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532</TotalTime>
  <Words>430</Words>
  <Application>Microsoft Office PowerPoint</Application>
  <PresentationFormat>Widescreen</PresentationFormat>
  <Paragraphs>49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Algerian</vt:lpstr>
      <vt:lpstr>Arial</vt:lpstr>
      <vt:lpstr>Tw Cen MT</vt:lpstr>
      <vt:lpstr>Circuit</vt:lpstr>
      <vt:lpstr>PowerPoint Presentation</vt:lpstr>
      <vt:lpstr>Clean data by handling missing values, duplicates and inconsistent entries</vt:lpstr>
      <vt:lpstr> Create new derived metrics or calculated columns for deeper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ZSelva</dc:creator>
  <cp:lastModifiedBy>ZSelva</cp:lastModifiedBy>
  <cp:revision>18</cp:revision>
  <dcterms:created xsi:type="dcterms:W3CDTF">2025-12-01T12:46:10Z</dcterms:created>
  <dcterms:modified xsi:type="dcterms:W3CDTF">2025-12-05T10:47:31Z</dcterms:modified>
</cp:coreProperties>
</file>